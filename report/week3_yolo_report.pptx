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a55a3ae5344c91" /><Relationship Type="http://schemas.openxmlformats.org/officeDocument/2006/relationships/extended-properties" Target="/docProps/app.xml" Id="Reabaa0cb24bf4a34" /><Relationship Type="http://schemas.openxmlformats.org/officeDocument/2006/relationships/officeDocument" Target="/ppt/presentation.xml" Id="Rfb4c9955cf5643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da8af4d966472b"/>
  </p:sldMasterIdLst>
  <p:notesMasterIdLst>
    <p:notesMasterId xmlns:r="http://schemas.openxmlformats.org/officeDocument/2006/relationships" r:id="R6d30460851214cb9"/>
  </p:notesMasterIdLst>
  <p:sldIdLst>
    <p:sldId xmlns:r="http://schemas.openxmlformats.org/officeDocument/2006/relationships" id="256" r:id="R509ea934dcd049c5"/>
    <p:sldId xmlns:r="http://schemas.openxmlformats.org/officeDocument/2006/relationships" id="257" r:id="R76fb9b17e56240ff"/>
    <p:sldId xmlns:r="http://schemas.openxmlformats.org/officeDocument/2006/relationships" id="258" r:id="R499a5965d0f34232"/>
    <p:sldId xmlns:r="http://schemas.openxmlformats.org/officeDocument/2006/relationships" id="259" r:id="R9a6b85d17e9b4ee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31627f78d94e36" /><Relationship Type="http://schemas.openxmlformats.org/officeDocument/2006/relationships/slideMaster" Target="/ppt/slideMasters/slideMaster1.xml" Id="Rc1da8af4d966472b" /><Relationship Type="http://schemas.openxmlformats.org/officeDocument/2006/relationships/notesMaster" Target="/ppt/notesMasters/notesMaster1.xml" Id="R6d30460851214cb9" /><Relationship Type="http://schemas.openxmlformats.org/officeDocument/2006/relationships/presProps" Target="/ppt/presProps.xml" Id="Rfc29a2adbf974277" /><Relationship Type="http://schemas.openxmlformats.org/officeDocument/2006/relationships/tableStyles" Target="/ppt/tableStyles.xml" Id="R89404b867905400d" /><Relationship Type="http://schemas.openxmlformats.org/officeDocument/2006/relationships/slide" Target="/ppt/slides/slide1.xml" Id="R509ea934dcd049c5" /><Relationship Type="http://schemas.openxmlformats.org/officeDocument/2006/relationships/slide" Target="/ppt/slides/slide2.xml" Id="R76fb9b17e56240ff" /><Relationship Type="http://schemas.openxmlformats.org/officeDocument/2006/relationships/slide" Target="/ppt/slides/slide3.xml" Id="R499a5965d0f34232" /><Relationship Type="http://schemas.openxmlformats.org/officeDocument/2006/relationships/slide" Target="/ppt/slides/slide4.xml" Id="R9a6b85d17e9b4e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1f2ba3cb9f4a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5267d9a5034cf2" /><Relationship Type="http://schemas.openxmlformats.org/officeDocument/2006/relationships/notesMaster" Target="/ppt/notesMasters/notesMaster1.xml" Id="R7c7ad87b162b49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97c43e9b1841bc" /><Relationship Type="http://schemas.openxmlformats.org/officeDocument/2006/relationships/notesMaster" Target="/ppt/notesMasters/notesMaster1.xml" Id="R7eb9c23fae424b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dcb318cc674c76" /><Relationship Type="http://schemas.openxmlformats.org/officeDocument/2006/relationships/notesMaster" Target="/ppt/notesMasters/notesMaster1.xml" Id="R4f0654c530a246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39382174094777" /><Relationship Type="http://schemas.openxmlformats.org/officeDocument/2006/relationships/notesMaster" Target="/ppt/notesMasters/notesMaster1.xml" Id="R2b47363428044b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cdba357d3c4f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6e716227674b4a" /><Relationship Type="http://schemas.openxmlformats.org/officeDocument/2006/relationships/slideLayout" Target="/ppt/slideLayouts/slideLayout1.xml" Id="R0500b4eeb9a24b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00b4eeb9a24b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af6e04c6a4f60" /><Relationship Type="http://schemas.openxmlformats.org/officeDocument/2006/relationships/notesSlide" Target="/ppt/notesSlides/notesSlide1.xml" Id="R08c37cd7c61b49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b1f18ed524656" /><Relationship Type="http://schemas.openxmlformats.org/officeDocument/2006/relationships/notesSlide" Target="/ppt/notesSlides/notesSlide2.xml" Id="R731b15bb7b7843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57fb7d8c343bd" /><Relationship Type="http://schemas.openxmlformats.org/officeDocument/2006/relationships/chart" Target="/ppt/slides/charts/chart1.xml" Id="R20415ca3358747d4" /><Relationship Type="http://schemas.openxmlformats.org/officeDocument/2006/relationships/notesSlide" Target="/ppt/notesSlides/notesSlide3.xml" Id="R1b886ff0f66e44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ba5defacb4e78" /><Relationship Type="http://schemas.openxmlformats.org/officeDocument/2006/relationships/image" Target="/ppt/media/image.jpeg" Id="R0e2c98575d8c43ad" /><Relationship Type="http://schemas.openxmlformats.org/officeDocument/2006/relationships/notesSlide" Target="/ppt/notesSlides/notesSlide4.xml" Id="R1acf1ed26fb246a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4"/>
              <c:pt idx="0">
                <c:v>Precision</c:v>
              </c:pt>
              <c:pt idx="1">
                <c:v>Recall</c:v>
              </c:pt>
              <c:pt idx="2">
                <c:v>mAP50</c:v>
              </c:pt>
              <c:pt idx="3">
                <c:v>mAP50-95</c:v>
              </c:pt>
            </c:strLit>
          </c:cat>
          <c:val>
            <c:numLit>
              <c:formatCode>General</c:formatCode>
              <c:ptCount val="4"/>
              <c:pt idx="0">
                <c:v>64.02</c:v>
              </c:pt>
              <c:pt idx="1">
                <c:v>75</c:v>
              </c:pt>
              <c:pt idx="2">
                <c:v>88.93</c:v>
              </c:pt>
              <c:pt idx="3">
                <c:v>62.65</c:v>
              </c:pt>
            </c:numLit>
          </c:val>
        </c:ser>
        <c:ser>
          <c:idx val="1"/>
          <c:order val="1"/>
          <c:tx>
            <c:v>Augmented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Precision</c:v>
              </c:pt>
              <c:pt idx="1">
                <c:v>Recall</c:v>
              </c:pt>
              <c:pt idx="2">
                <c:v>mAP50</c:v>
              </c:pt>
              <c:pt idx="3">
                <c:v>mAP50-95</c:v>
              </c:pt>
            </c:strLit>
          </c:cat>
          <c:val>
            <c:numLit>
              <c:formatCode>General</c:formatCode>
              <c:ptCount val="4"/>
              <c:pt idx="0">
                <c:v>77.16</c:v>
              </c:pt>
              <c:pt idx="1">
                <c:v>83.33</c:v>
              </c:pt>
              <c:pt idx="2">
                <c:v>88.85</c:v>
              </c:pt>
              <c:pt idx="3">
                <c:v>65.06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6CD579EC-4342-4820-A3C9-7F13DF1D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85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t>COMPUTER VISION BOOTCAMP · WEEK 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01C47B8-A110-4D1D-A73F-824B98D4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0001250" cy="2238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증강 학습으로
탐지 성능을 높였다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064C35A-2F97-42BE-B2B3-24997855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7239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YOLOv8n × COCO8 · PyTorch · OpenCV</a:t>
            </a:r>
          </a:p>
        </p:txBody>
      </p:sp>
      <p:sp>
        <p:nvSpPr>
          <p:cNvPr id="4" name="result">
            <a:extLst xmlns:a="http://schemas.openxmlformats.org/drawingml/2006/main">
              <a:ext uri="{FF2B5EF4-FFF2-40B4-BE49-F238E27FC236}">
                <a16:creationId xmlns:a16="http://schemas.microsoft.com/office/drawing/2014/main" id="{5AEA7691-A653-4F4B-80B5-A31B98A1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7239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mAP50-95  0.6506   |   평균 신뢰도  0.8388</a:t>
            </a:r>
          </a:p>
        </p:txBody>
      </p:sp>
      <p:sp>
        <p:nvSpPr>
          <p:cNvPr id="5" name="accent-rule">
            <a:extLst xmlns:a="http://schemas.openxmlformats.org/drawingml/2006/main">
              <a:ext uri="{FF2B5EF4-FFF2-40B4-BE49-F238E27FC236}">
                <a16:creationId xmlns:a16="http://schemas.microsoft.com/office/drawing/2014/main" id="{884B2236-CA50-4A70-A257-46A9F821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11391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27571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EC871392-47B9-41F6-812C-01FDE256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같은 초기 가중치에서 증강 효과만 비교했다</a:t>
            </a:r>
          </a:p>
        </p:txBody>
      </p:sp>
      <p:cxnSp>
        <p:nvCxnSpPr>
          <p:cNvPr id="15" name="timeline"/>
          <p:cNvCxnSpPr/>
          <p:nvPr/>
        </p:nvCxnSpPr>
        <p:spPr>
          <a:xfrm xmlns:a="http://schemas.openxmlformats.org/drawingml/2006/main">
            <a:off x="514350" y="2990850"/>
            <a:ext cx="107442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3" name="dot-1">
            <a:extLst xmlns:a="http://schemas.openxmlformats.org/drawingml/2006/main">
              <a:ext uri="{FF2B5EF4-FFF2-40B4-BE49-F238E27FC236}">
                <a16:creationId xmlns:a16="http://schemas.microsoft.com/office/drawing/2014/main" id="{23D3DA1B-E27D-4855-9139-4ED8B4C9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dot-2">
            <a:extLst xmlns:a="http://schemas.openxmlformats.org/drawingml/2006/main">
              <a:ext uri="{FF2B5EF4-FFF2-40B4-BE49-F238E27FC236}">
                <a16:creationId xmlns:a16="http://schemas.microsoft.com/office/drawing/2014/main" id="{6C660074-A61B-4E24-9F00-BCDE204A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95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dot-3">
            <a:extLst xmlns:a="http://schemas.openxmlformats.org/drawingml/2006/main">
              <a:ext uri="{FF2B5EF4-FFF2-40B4-BE49-F238E27FC236}">
                <a16:creationId xmlns:a16="http://schemas.microsoft.com/office/drawing/2014/main" id="{715A06D4-3DE7-44DF-B1F6-8E80F0C2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95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44E2D218-CA74-4353-9CCC-F4347567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2952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01  기준 학습</a:t>
            </a:r>
          </a:p>
        </p:txBody>
      </p:sp>
      <p:sp>
        <p:nvSpPr>
          <p:cNvPr id="7" name="step-1-body">
            <a:extLst xmlns:a="http://schemas.openxmlformats.org/drawingml/2006/main">
              <a:ext uri="{FF2B5EF4-FFF2-40B4-BE49-F238E27FC236}">
                <a16:creationId xmlns:a16="http://schemas.microsoft.com/office/drawing/2014/main" id="{524A6DE3-1205-413D-A897-62B6781E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433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t>10 epochs
증강 없음</a:t>
            </a:r>
          </a:p>
        </p:txBody>
      </p:sp>
      <p:sp>
        <p:nvSpPr>
          <p:cNvPr id="8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8BB0B24F-5708-4AB5-9C13-3F2816FD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29000"/>
            <a:ext cx="2952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02  증강 학습</a:t>
            </a:r>
          </a:p>
        </p:txBody>
      </p:sp>
      <p:sp>
        <p:nvSpPr>
          <p:cNvPr id="9" name="step-2-body">
            <a:extLst xmlns:a="http://schemas.openxmlformats.org/drawingml/2006/main">
              <a:ext uri="{FF2B5EF4-FFF2-40B4-BE49-F238E27FC236}">
                <a16:creationId xmlns:a16="http://schemas.microsoft.com/office/drawing/2014/main" id="{5C537EF6-39CB-40D0-9843-37DA18E2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43350"/>
            <a:ext cx="3143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t>20 epochs
회전·이동·스케일·반전·HSV</a:t>
            </a:r>
          </a:p>
        </p:txBody>
      </p:sp>
      <p:sp>
        <p:nvSpPr>
          <p:cNvPr id="10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D4EE0767-EC04-47A6-B9D3-75E69238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03  동일 조건 평가</a:t>
            </a:r>
          </a:p>
        </p:txBody>
      </p:sp>
      <p:sp>
        <p:nvSpPr>
          <p:cNvPr id="11" name="step-3-body">
            <a:extLst xmlns:a="http://schemas.openxmlformats.org/drawingml/2006/main">
              <a:ext uri="{FF2B5EF4-FFF2-40B4-BE49-F238E27FC236}">
                <a16:creationId xmlns:a16="http://schemas.microsoft.com/office/drawing/2014/main" id="{754BFD06-03FC-4E66-8D67-76E951AF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43350"/>
            <a:ext cx="3143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t>COCO8 검증 4장
Precision · Recall · mAP</a:t>
            </a:r>
          </a:p>
        </p:txBody>
      </p:sp>
      <p:sp>
        <p:nvSpPr>
          <p:cNvPr id="12" name="setup">
            <a:extLst xmlns:a="http://schemas.openxmlformats.org/drawingml/2006/main">
              <a:ext uri="{FF2B5EF4-FFF2-40B4-BE49-F238E27FC236}">
                <a16:creationId xmlns:a16="http://schemas.microsoft.com/office/drawing/2014/main" id="{024EBAA3-F486-4641-B2EF-64BBE657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7620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t>CPU · 640px · seed 42 · YOLOv8n pretrained</a:t>
            </a:r>
          </a:p>
        </p:txBody>
      </p:sp>
      <p:sp>
        <p:nvSpPr>
          <p:cNvPr id="13" name="source-2">
            <a:extLst xmlns:a="http://schemas.openxmlformats.org/drawingml/2006/main">
              <a:ext uri="{FF2B5EF4-FFF2-40B4-BE49-F238E27FC236}">
                <a16:creationId xmlns:a16="http://schemas.microsoft.com/office/drawing/2014/main" id="{823A99E5-41BC-43EF-9886-90838DA1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857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t>실험 결과: artifacts/metrics.json, analysis.json</a:t>
            </a:r>
          </a:p>
        </p:txBody>
      </p:sp>
    </p:spTree>
    <p:extLst>
      <p:ext uri="{BB962C8B-B14F-4D97-AF65-F5344CB8AC3E}">
        <p14:creationId xmlns:p14="http://schemas.microsoft.com/office/powerpoint/2010/main" val="20750638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2BA1268B-A638-4AE4-BBEF-B8239822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증강으로 정밀도·재현율·mAP50-95가 개선됐다</a:t>
            </a:r>
          </a:p>
        </p:txBody>
      </p:sp>
      <p:sp>
        <p:nvSpPr>
          <p:cNvPr id="2" name="chart-frame">
            <a:extLst xmlns:a="http://schemas.openxmlformats.org/drawingml/2006/main">
              <a:ext uri="{FF2B5EF4-FFF2-40B4-BE49-F238E27FC236}">
                <a16:creationId xmlns:a16="http://schemas.microsoft.com/office/drawing/2014/main" id="{4B3B97B5-5661-471E-B7C6-3C0204A9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7000875" cy="4686300"/>
          </a:xfrm>
          <a:prstGeom xmlns:a="http://schemas.openxmlformats.org/drawingml/2006/main" prst="roundRect">
            <a:avLst>
              <a:gd name="adj" fmla="val 16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result-title">
            <a:extLst xmlns:a="http://schemas.openxmlformats.org/drawingml/2006/main">
              <a:ext uri="{FF2B5EF4-FFF2-40B4-BE49-F238E27FC236}">
                <a16:creationId xmlns:a16="http://schemas.microsoft.com/office/drawing/2014/main" id="{E98F33B2-63A0-419A-A2C0-802D1FF0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81150"/>
            <a:ext cx="3429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핵심 결과</a:t>
            </a:r>
          </a:p>
        </p:txBody>
      </p:sp>
      <p:sp>
        <p:nvSpPr>
          <p:cNvPr id="4" name="precision-stat">
            <a:extLst xmlns:a="http://schemas.openxmlformats.org/drawingml/2006/main">
              <a:ext uri="{FF2B5EF4-FFF2-40B4-BE49-F238E27FC236}">
                <a16:creationId xmlns:a16="http://schemas.microsoft.com/office/drawing/2014/main" id="{9E55F62A-C81D-4DA8-8694-BE1F4C1B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28850"/>
            <a:ext cx="342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+13.1%p</a:t>
            </a:r>
          </a:p>
        </p:txBody>
      </p:sp>
      <p:sp>
        <p:nvSpPr>
          <p:cNvPr id="5" name="precision-label">
            <a:extLst xmlns:a="http://schemas.openxmlformats.org/drawingml/2006/main">
              <a:ext uri="{FF2B5EF4-FFF2-40B4-BE49-F238E27FC236}">
                <a16:creationId xmlns:a16="http://schemas.microsoft.com/office/drawing/2014/main" id="{C8D72B8F-687B-4724-9D16-85E4B805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146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t>Precision</a:t>
            </a:r>
          </a:p>
        </p:txBody>
      </p:sp>
      <p:sp>
        <p:nvSpPr>
          <p:cNvPr id="6" name="recall-stat">
            <a:extLst xmlns:a="http://schemas.openxmlformats.org/drawingml/2006/main">
              <a:ext uri="{FF2B5EF4-FFF2-40B4-BE49-F238E27FC236}">
                <a16:creationId xmlns:a16="http://schemas.microsoft.com/office/drawing/2014/main" id="{1BE68370-424B-4D3A-8B32-AB1BA6B3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05200"/>
            <a:ext cx="342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+8.3%p</a:t>
            </a:r>
          </a:p>
        </p:txBody>
      </p:sp>
      <p:sp>
        <p:nvSpPr>
          <p:cNvPr id="7" name="recall-label">
            <a:extLst xmlns:a="http://schemas.openxmlformats.org/drawingml/2006/main">
              <a:ext uri="{FF2B5EF4-FFF2-40B4-BE49-F238E27FC236}">
                <a16:creationId xmlns:a16="http://schemas.microsoft.com/office/drawing/2014/main" id="{D8FE4904-2472-4649-A56D-4C8C4884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9100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t>Recall</a:t>
            </a:r>
          </a:p>
        </p:txBody>
      </p:sp>
      <p:sp>
        <p:nvSpPr>
          <p:cNvPr id="8" name="map-summary">
            <a:extLst xmlns:a="http://schemas.openxmlformats.org/drawingml/2006/main">
              <a:ext uri="{FF2B5EF4-FFF2-40B4-BE49-F238E27FC236}">
                <a16:creationId xmlns:a16="http://schemas.microsoft.com/office/drawing/2014/main" id="{226C6769-F2C8-41B3-8B4B-B301107C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38700"/>
            <a:ext cx="3429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mAP50-95  +2.4%p
mAP50  -0.1%p</a:t>
            </a:r>
          </a:p>
        </p:txBody>
      </p:sp>
      <p:sp>
        <p:nvSpPr>
          <p:cNvPr id="9" name="source-3">
            <a:extLst xmlns:a="http://schemas.openxmlformats.org/drawingml/2006/main">
              <a:ext uri="{FF2B5EF4-FFF2-40B4-BE49-F238E27FC236}">
                <a16:creationId xmlns:a16="http://schemas.microsoft.com/office/drawing/2014/main" id="{FD8EF818-3171-4EA1-B502-C105BB1C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857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t>실험 결과: artifacts/metrics.json, analysis.json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723900" y="1619250"/>
          <a:ext xmlns:a="http://schemas.openxmlformats.org/drawingml/2006/main" cx="63627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415ca3358747d4"/>
          </a:graphicData>
        </a:graphic>
      </p:graphicFrame>
    </p:spTree>
    <p:extLst>
      <p:ext uri="{BB962C8B-B14F-4D97-AF65-F5344CB8AC3E}">
        <p14:creationId xmlns:p14="http://schemas.microsoft.com/office/powerpoint/2010/main" val="118248656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DBDF946F-0E46-4562-B2A2-97B5771C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최종 모델은 사람과 우산을 탐지했다</a:t>
            </a:r>
          </a:p>
        </p:txBody>
      </p:sp>
      <p:sp>
        <p:nvSpPr>
          <p:cNvPr id="2" name="model-label">
            <a:extLst xmlns:a="http://schemas.openxmlformats.org/drawingml/2006/main">
              <a:ext uri="{FF2B5EF4-FFF2-40B4-BE49-F238E27FC236}">
                <a16:creationId xmlns:a16="http://schemas.microsoft.com/office/drawing/2014/main" id="{A20B8C3E-6905-4985-B6F5-1D57BFD3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t>선택 모델</a:t>
            </a:r>
          </a:p>
        </p:txBody>
      </p:sp>
      <p:sp>
        <p:nvSpPr>
          <p:cNvPr id="3" name="model">
            <a:extLst xmlns:a="http://schemas.openxmlformats.org/drawingml/2006/main">
              <a:ext uri="{FF2B5EF4-FFF2-40B4-BE49-F238E27FC236}">
                <a16:creationId xmlns:a16="http://schemas.microsoft.com/office/drawing/2014/main" id="{E905E021-5DF9-4A2B-A35C-24301394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증강 YOLOv8n</a:t>
            </a:r>
          </a:p>
        </p:txBody>
      </p:sp>
      <p:sp>
        <p:nvSpPr>
          <p:cNvPr id="4" name="detect-label">
            <a:extLst xmlns:a="http://schemas.openxmlformats.org/drawingml/2006/main">
              <a:ext uri="{FF2B5EF4-FFF2-40B4-BE49-F238E27FC236}">
                <a16:creationId xmlns:a16="http://schemas.microsoft.com/office/drawing/2014/main" id="{F3C98CB4-96C7-41C0-BC5F-D1A53F7B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t>탐지 결과</a:t>
            </a:r>
          </a:p>
        </p:txBody>
      </p:sp>
      <p:sp>
        <p:nvSpPr>
          <p:cNvPr id="5" name="detect">
            <a:extLst xmlns:a="http://schemas.openxmlformats.org/drawingml/2006/main">
              <a:ext uri="{FF2B5EF4-FFF2-40B4-BE49-F238E27FC236}">
                <a16:creationId xmlns:a16="http://schemas.microsoft.com/office/drawing/2014/main" id="{DC88EB59-1133-4C4D-8E33-700DB01B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42862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person  0.91
umbrella  0.77</a:t>
            </a:r>
          </a:p>
        </p:txBody>
      </p:sp>
      <p:sp>
        <p:nvSpPr>
          <p:cNvPr id="6" name="confidence-label">
            <a:extLst xmlns:a="http://schemas.openxmlformats.org/drawingml/2006/main">
              <a:ext uri="{FF2B5EF4-FFF2-40B4-BE49-F238E27FC236}">
                <a16:creationId xmlns:a16="http://schemas.microsoft.com/office/drawing/2014/main" id="{C286DFA8-3996-4332-B24A-4E1DD61D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t>평균 신뢰도</a:t>
            </a:r>
          </a:p>
        </p:txBody>
      </p:sp>
      <p:sp>
        <p:nvSpPr>
          <p:cNvPr id="7" name="confidence">
            <a:extLst xmlns:a="http://schemas.openxmlformats.org/drawingml/2006/main">
              <a:ext uri="{FF2B5EF4-FFF2-40B4-BE49-F238E27FC236}">
                <a16:creationId xmlns:a16="http://schemas.microsoft.com/office/drawing/2014/main" id="{46282866-F01C-410B-BEF6-DAA8AB09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342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0.8388</a:t>
            </a:r>
          </a:p>
        </p:txBody>
      </p:sp>
      <p:sp>
        <p:nvSpPr>
          <p:cNvPr id="8" name="limit">
            <a:extLst xmlns:a="http://schemas.openxmlformats.org/drawingml/2006/main">
              <a:ext uri="{FF2B5EF4-FFF2-40B4-BE49-F238E27FC236}">
                <a16:creationId xmlns:a16="http://schemas.microsoft.com/office/drawing/2014/main" id="{A0F954FA-BED6-4862-85E8-C3C93771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5286375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t>소형 데이터셋에서 개선 방향을 확인했다.
실제 적용 전 더 큰 검증셋과 오탐 분석이 필요하다.</a:t>
            </a:r>
          </a:p>
        </p:txBody>
      </p:sp>
      <p:sp>
        <p:nvSpPr>
          <p:cNvPr id="9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2DAA1846-3F35-4A43-81D8-42AB523B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57300"/>
            <a:ext cx="5543550" cy="4743450"/>
          </a:xfrm>
          <a:prstGeom xmlns:a="http://schemas.openxmlformats.org/drawingml/2006/main" prst="roundRect">
            <a:avLst>
              <a:gd name="adj" fmla="val 160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ource-4">
            <a:extLst xmlns:a="http://schemas.openxmlformats.org/drawingml/2006/main">
              <a:ext uri="{FF2B5EF4-FFF2-40B4-BE49-F238E27FC236}">
                <a16:creationId xmlns:a16="http://schemas.microsoft.com/office/drawing/2014/main" id="{29ADF08A-AE66-4CB4-A2C8-7A70F2FF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857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66D"/>
                </a:solidFill>
                <a:latin typeface="Malgun Gothic"/>
                <a:ea typeface="Malgun Gothic"/>
                <a:cs typeface="Malgun Gothic"/>
              </a:defRPr>
            </a:pPr>
            <a:r>
              <a:t>실험 결과: artifacts/metrics.json, analysis.json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2c98575d8c43ad"/>
          <a:stretch xmlns:a="http://schemas.openxmlformats.org/drawingml/2006/main"/>
        </p:blipFill>
        <p:spPr>
          <a:xfrm xmlns:a="http://schemas.openxmlformats.org/drawingml/2006/main">
            <a:off x="7371264" y="1409700"/>
            <a:ext cx="3335923" cy="4438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75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2026-07-21T03:14:48.0090000Z</dcterms:created>
  <dcterms:modified xsi:type="dcterms:W3CDTF">2026-07-21T03:14:48.0090000Z</dcterms:modified>
</coreProperties>
</file>